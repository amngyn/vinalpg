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1" r:id="rId2"/>
    <p:sldId id="257" r:id="rId3"/>
    <p:sldId id="281" r:id="rId4"/>
    <p:sldId id="280" r:id="rId5"/>
    <p:sldId id="282" r:id="rId6"/>
    <p:sldId id="286" r:id="rId7"/>
    <p:sldId id="259" r:id="rId8"/>
    <p:sldId id="279" r:id="rId9"/>
    <p:sldId id="260" r:id="rId10"/>
    <p:sldId id="274" r:id="rId11"/>
    <p:sldId id="261" r:id="rId12"/>
    <p:sldId id="262" r:id="rId13"/>
    <p:sldId id="263" r:id="rId14"/>
    <p:sldId id="258" r:id="rId15"/>
    <p:sldId id="264" r:id="rId16"/>
    <p:sldId id="284" r:id="rId17"/>
    <p:sldId id="283" r:id="rId18"/>
    <p:sldId id="285" r:id="rId19"/>
    <p:sldId id="265" r:id="rId20"/>
    <p:sldId id="278" r:id="rId21"/>
    <p:sldId id="273" r:id="rId22"/>
    <p:sldId id="277" r:id="rId23"/>
    <p:sldId id="266" r:id="rId24"/>
    <p:sldId id="272" r:id="rId25"/>
    <p:sldId id="287" r:id="rId26"/>
    <p:sldId id="270" r:id="rId27"/>
    <p:sldId id="269" r:id="rId28"/>
    <p:sldId id="267" r:id="rId29"/>
    <p:sldId id="268" r:id="rId30"/>
    <p:sldId id="275" r:id="rId31"/>
    <p:sldId id="276" r:id="rId32"/>
    <p:sldId id="25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D6D05-2E71-4132-AA23-FD7517159769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110A4-F2AD-46E4-AA69-3D4B8C8C58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4399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6730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18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999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967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9183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6476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021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044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006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2278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4359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261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857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5527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7065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6160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06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01088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8555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037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884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0742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05070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1317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3700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8102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30641-DFC0-4242-8750-2D1B789D5961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638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7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7395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406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368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975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993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574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310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030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805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004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56C1E-3E50-4085-B6E5-9E62740ED0DD}" type="datetimeFigureOut">
              <a:rPr lang="en-SG" smtClean="0"/>
              <a:t>9/5/2019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F7B1D-7618-4C59-8C7A-3AD5031551F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14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enquiry@mettalpg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gif"/><Relationship Id="rId10" Type="http://schemas.openxmlformats.org/officeDocument/2006/relationships/image" Target="../media/image14.emf"/><Relationship Id="rId4" Type="http://schemas.openxmlformats.org/officeDocument/2006/relationships/image" Target="../media/image1.png"/><Relationship Id="rId9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9.emf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2.pn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.png"/><Relationship Id="rId9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emf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emf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3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g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emf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emf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emf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2.png"/><Relationship Id="rId7" Type="http://schemas.openxmlformats.org/officeDocument/2006/relationships/image" Target="../media/image4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image" Target="../media/image2.png"/><Relationship Id="rId7" Type="http://schemas.openxmlformats.org/officeDocument/2006/relationships/image" Target="../media/image50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emf"/><Relationship Id="rId5" Type="http://schemas.openxmlformats.org/officeDocument/2006/relationships/image" Target="../media/image49.jpe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eg"/><Relationship Id="rId5" Type="http://schemas.openxmlformats.org/officeDocument/2006/relationships/image" Target="../media/image52.emf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emf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g"/><Relationship Id="rId3" Type="http://schemas.openxmlformats.org/officeDocument/2006/relationships/image" Target="../media/image2.png"/><Relationship Id="rId7" Type="http://schemas.openxmlformats.org/officeDocument/2006/relationships/image" Target="../media/image6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image" Target="../media/image2.png"/><Relationship Id="rId7" Type="http://schemas.openxmlformats.org/officeDocument/2006/relationships/image" Target="../media/image65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image" Target="../media/image80.emf"/><Relationship Id="rId3" Type="http://schemas.openxmlformats.org/officeDocument/2006/relationships/image" Target="../media/image1.png"/><Relationship Id="rId7" Type="http://schemas.openxmlformats.org/officeDocument/2006/relationships/image" Target="../media/image74.emf"/><Relationship Id="rId12" Type="http://schemas.openxmlformats.org/officeDocument/2006/relationships/image" Target="../media/image7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emf"/><Relationship Id="rId11" Type="http://schemas.openxmlformats.org/officeDocument/2006/relationships/image" Target="../media/image78.emf"/><Relationship Id="rId5" Type="http://schemas.openxmlformats.org/officeDocument/2006/relationships/image" Target="../media/image72.emf"/><Relationship Id="rId10" Type="http://schemas.openxmlformats.org/officeDocument/2006/relationships/image" Target="../media/image77.emf"/><Relationship Id="rId4" Type="http://schemas.openxmlformats.org/officeDocument/2006/relationships/image" Target="../media/image71.emf"/><Relationship Id="rId9" Type="http://schemas.openxmlformats.org/officeDocument/2006/relationships/image" Target="../media/image7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ailto:enquiry@mettalpg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/>
          <p:cNvSpPr/>
          <p:nvPr/>
        </p:nvSpPr>
        <p:spPr>
          <a:xfrm>
            <a:off x="3027860" y="3390783"/>
            <a:ext cx="5832687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METTA LPG PTE LTD</a:t>
            </a:r>
          </a:p>
          <a:p>
            <a:pPr algn="ctr"/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2C JALAN PESAWAT JURONG SINGAPORE 619359</a:t>
            </a:r>
          </a:p>
          <a:p>
            <a:pPr algn="ctr"/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EMAIL: </a:t>
            </a:r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enquiry@mettalpg.com</a:t>
            </a:r>
            <a:endParaRPr lang="en-US" sz="20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1" cap="none" spc="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CONTACT: +65-62654933</a:t>
            </a:r>
          </a:p>
          <a:p>
            <a:pPr algn="ctr"/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943" y="2060057"/>
            <a:ext cx="2955690" cy="1334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040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8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1790700" y="3032974"/>
            <a:ext cx="8610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800" b="1" dirty="0">
                <a:solidFill>
                  <a:schemeClr val="tx2"/>
                </a:solidFill>
                <a:latin typeface="Arial Black" panose="020B0A04020102020204" pitchFamily="34" charset="0"/>
              </a:rPr>
              <a:t>REGO / GODDARD </a:t>
            </a:r>
            <a:r>
              <a:rPr lang="en-US" altLang="en-US" sz="4800" b="1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VALVE</a:t>
            </a:r>
          </a:p>
          <a:p>
            <a:pPr algn="ctr"/>
            <a:r>
              <a:rPr lang="en-US" altLang="en-US" sz="4400" b="1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FOR LNG AND CRYOGINIC APPLICATION </a:t>
            </a:r>
          </a:p>
          <a:p>
            <a:pPr algn="ctr"/>
            <a:endParaRPr lang="en-US" altLang="en-US" sz="4400" b="1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en-US" sz="4400" b="1" dirty="0" smtClean="0">
                <a:solidFill>
                  <a:schemeClr val="tx2"/>
                </a:solidFill>
                <a:latin typeface="Arial Black" panose="020B0A04020102020204" pitchFamily="34" charset="0"/>
              </a:rPr>
              <a:t>MAKE IN USA</a:t>
            </a:r>
            <a:r>
              <a:rPr lang="en-US" altLang="en-US" sz="4400" b="1" dirty="0">
                <a:solidFill>
                  <a:schemeClr val="tx2"/>
                </a:solidFill>
                <a:latin typeface="Arial Black" panose="020B0A04020102020204" pitchFamily="34" charset="0"/>
              </a:rPr>
              <a:t/>
            </a:r>
            <a:br>
              <a:rPr lang="en-US" altLang="en-US" sz="4400" b="1" dirty="0">
                <a:solidFill>
                  <a:schemeClr val="tx2"/>
                </a:solidFill>
                <a:latin typeface="Arial Black" panose="020B0A04020102020204" pitchFamily="34" charset="0"/>
              </a:rPr>
            </a:br>
            <a:r>
              <a:rPr lang="en-US" altLang="en-US" sz="4400" b="1" dirty="0">
                <a:solidFill>
                  <a:schemeClr val="tx2"/>
                </a:solidFill>
                <a:latin typeface="Arial Black" panose="020B0A04020102020204" pitchFamily="34" charset="0"/>
              </a:rPr>
              <a:t/>
            </a:r>
            <a:br>
              <a:rPr lang="en-US" altLang="en-US" sz="4400" b="1" dirty="0">
                <a:solidFill>
                  <a:schemeClr val="tx2"/>
                </a:solidFill>
                <a:latin typeface="Arial Black" panose="020B0A04020102020204" pitchFamily="34" charset="0"/>
              </a:rPr>
            </a:br>
            <a:endParaRPr lang="en-US" altLang="en-US" sz="44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783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8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C:\Documents and Settings\mtarala\My Documents\My Pictures\CHICAGOfull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521" y="1224566"/>
            <a:ext cx="6383338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62247" y="5263720"/>
            <a:ext cx="996458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 err="1">
                <a:latin typeface="Copperplate Gothic Light" pitchFamily="34" charset="0"/>
              </a:rPr>
              <a:t>RegO</a:t>
            </a:r>
            <a:r>
              <a:rPr lang="en-US" altLang="en-US" sz="2800" i="1" dirty="0">
                <a:latin typeface="Copperplate Gothic Light" pitchFamily="34" charset="0"/>
              </a:rPr>
              <a:t> Company West Patterson </a:t>
            </a:r>
            <a:r>
              <a:rPr lang="en-US" altLang="en-US" sz="2800" i="1" dirty="0" smtClean="0">
                <a:latin typeface="Copperplate Gothic Light" pitchFamily="34" charset="0"/>
              </a:rPr>
              <a:t>Avenue Chicago</a:t>
            </a:r>
            <a:r>
              <a:rPr lang="en-US" altLang="en-US" sz="2800" i="1" dirty="0">
                <a:latin typeface="Copperplate Gothic Light" pitchFamily="34" charset="0"/>
              </a:rPr>
              <a:t>, </a:t>
            </a:r>
            <a:r>
              <a:rPr lang="en-US" altLang="en-US" sz="2800" i="1" dirty="0" smtClean="0">
                <a:latin typeface="Copperplate Gothic Light" pitchFamily="34" charset="0"/>
              </a:rPr>
              <a:t>Illinois</a:t>
            </a:r>
          </a:p>
          <a:p>
            <a:r>
              <a:rPr lang="en-US" altLang="en-US" sz="2800" dirty="0">
                <a:latin typeface="Copperplate Gothic Light" pitchFamily="34" charset="0"/>
              </a:rPr>
              <a:t>Charles Bastian invents carbon dioxide cylinder valve in 1888</a:t>
            </a:r>
          </a:p>
          <a:p>
            <a:endParaRPr lang="en-US" altLang="en-US" sz="1400" i="1" dirty="0">
              <a:latin typeface="Copperplate Gothic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 descr="D:\B-000306-6T6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1934" y="1004749"/>
            <a:ext cx="585303" cy="132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D:\B-840-6TAB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336" y="4447242"/>
            <a:ext cx="64928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D:\GS-110W-8S3AB.gi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0467" y="2572220"/>
            <a:ext cx="671533" cy="173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 descr="D:\S-231-12S4 VALVEAB.g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07" y="5410111"/>
            <a:ext cx="559147" cy="135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305785" y="250235"/>
            <a:ext cx="51443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opperplate Gothic Bold" pitchFamily="34" charset="0"/>
              </a:rPr>
              <a:t>RegO</a:t>
            </a:r>
            <a:r>
              <a:rPr lang="en-US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pperplate Gothic Bold" pitchFamily="34" charset="0"/>
              </a:rPr>
              <a:t>®</a:t>
            </a:r>
            <a:r>
              <a:rPr lang="en-US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Franklin Gothic Heavy" pitchFamily="34" charset="0"/>
              </a:rPr>
              <a:t> </a:t>
            </a:r>
            <a:r>
              <a:rPr lang="en-US" altLang="en-US" sz="2800" b="1" dirty="0">
                <a:latin typeface="Copperplate Gothic Bold" pitchFamily="34" charset="0"/>
              </a:rPr>
              <a:t>History of Excellence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85099" y="3440464"/>
            <a:ext cx="708660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dirty="0">
                <a:solidFill>
                  <a:schemeClr val="hlink"/>
                </a:solidFill>
                <a:latin typeface="Copperplate Gothic Light" pitchFamily="34" charset="0"/>
              </a:rPr>
              <a:t>1969 </a:t>
            </a:r>
            <a:r>
              <a:rPr lang="en-US" altLang="en-US" dirty="0" err="1">
                <a:solidFill>
                  <a:schemeClr val="hlink"/>
                </a:solidFill>
                <a:latin typeface="Copperplate Gothic Light" pitchFamily="34" charset="0"/>
              </a:rPr>
              <a:t>RegO</a:t>
            </a:r>
            <a:r>
              <a:rPr lang="en-US" altLang="en-US" dirty="0">
                <a:solidFill>
                  <a:schemeClr val="hlink"/>
                </a:solidFill>
                <a:latin typeface="Copperplate Gothic Light" pitchFamily="34" charset="0"/>
              </a:rPr>
              <a:t> becomes separate company and goes though several ownerships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Copperplate Gothic Light" pitchFamily="34" charset="0"/>
              </a:rPr>
              <a:t>1976 Marmon Group merges Cerro Corporation and </a:t>
            </a:r>
            <a:r>
              <a:rPr lang="en-US" altLang="en-US" dirty="0" err="1">
                <a:latin typeface="Copperplate Gothic Light" pitchFamily="34" charset="0"/>
              </a:rPr>
              <a:t>RegO</a:t>
            </a:r>
            <a:r>
              <a:rPr lang="en-US" altLang="en-US" dirty="0">
                <a:latin typeface="Copperplate Gothic Light" pitchFamily="34" charset="0"/>
              </a:rPr>
              <a:t> under </a:t>
            </a:r>
            <a:r>
              <a:rPr lang="en-US" altLang="en-US" dirty="0" err="1">
                <a:latin typeface="Copperplate Gothic Light" pitchFamily="34" charset="0"/>
              </a:rPr>
              <a:t>marmon</a:t>
            </a:r>
            <a:r>
              <a:rPr lang="en-US" altLang="en-US" dirty="0">
                <a:latin typeface="Copperplate Gothic Light" pitchFamily="34" charset="0"/>
              </a:rPr>
              <a:t> umbrella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dirty="0" err="1">
                <a:latin typeface="Copperplate Gothic Light" pitchFamily="34" charset="0"/>
              </a:rPr>
              <a:t>RegO</a:t>
            </a:r>
            <a:r>
              <a:rPr lang="en-US" altLang="en-US" dirty="0">
                <a:latin typeface="Copperplate Gothic Light" pitchFamily="34" charset="0"/>
              </a:rPr>
              <a:t> moves facility from Chicago to Elon, North Carolina in 1985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Copperplate Gothic Light" pitchFamily="34" charset="0"/>
              </a:rPr>
              <a:t>Engineered Controls international formed in 1988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Copperplate Gothic Light" pitchFamily="34" charset="0"/>
              </a:rPr>
              <a:t>ECII builds machining plant in </a:t>
            </a:r>
            <a:r>
              <a:rPr lang="en-US" altLang="en-US" dirty="0" err="1">
                <a:latin typeface="Copperplate Gothic Light" pitchFamily="34" charset="0"/>
              </a:rPr>
              <a:t>Whitsett</a:t>
            </a:r>
            <a:r>
              <a:rPr lang="en-US" altLang="en-US" dirty="0">
                <a:latin typeface="Copperplate Gothic Light" pitchFamily="34" charset="0"/>
              </a:rPr>
              <a:t>, </a:t>
            </a:r>
            <a:r>
              <a:rPr lang="en-US" altLang="en-US" dirty="0" err="1">
                <a:latin typeface="Copperplate Gothic Light" pitchFamily="34" charset="0"/>
              </a:rPr>
              <a:t>nc</a:t>
            </a:r>
            <a:r>
              <a:rPr lang="en-US" altLang="en-US" dirty="0">
                <a:latin typeface="Copperplate Gothic Light" pitchFamily="34" charset="0"/>
              </a:rPr>
              <a:t> in 1988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Copperplate Gothic Light" pitchFamily="34" charset="0"/>
              </a:rPr>
              <a:t>ECII builds regulator factory in Conover, NC </a:t>
            </a:r>
            <a:r>
              <a:rPr lang="en-US" altLang="en-US" dirty="0" smtClean="0">
                <a:latin typeface="Copperplate Gothic Light" pitchFamily="34" charset="0"/>
              </a:rPr>
              <a:t>1998</a:t>
            </a:r>
            <a:endParaRPr lang="en-US" altLang="en-US" dirty="0">
              <a:latin typeface="Copperplate Gothic Light" pitchFamily="34" charset="0"/>
            </a:endParaRPr>
          </a:p>
        </p:txBody>
      </p:sp>
      <p:sp>
        <p:nvSpPr>
          <p:cNvPr id="16" name="Rectangle 1029"/>
          <p:cNvSpPr>
            <a:spLocks noChangeArrowheads="1"/>
          </p:cNvSpPr>
          <p:nvPr/>
        </p:nvSpPr>
        <p:spPr bwMode="auto">
          <a:xfrm>
            <a:off x="189862" y="1027360"/>
            <a:ext cx="7620000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Copperplate Gothic Light" pitchFamily="34" charset="0"/>
              </a:rPr>
              <a:t>Charles Bastian invents carbon dioxide cylinder valve in 1888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Copperplate Gothic Light" pitchFamily="34" charset="0"/>
              </a:rPr>
              <a:t>Liquid Carbonic , a manufacturer of soda fountains, purchases Bastian’s company 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Copperplate Gothic Light" pitchFamily="34" charset="0"/>
              </a:rPr>
              <a:t>1908 Bastian forms </a:t>
            </a:r>
            <a:r>
              <a:rPr lang="en-US" altLang="en-US" sz="1600" dirty="0" err="1">
                <a:latin typeface="Copperplate Gothic Light" pitchFamily="34" charset="0"/>
              </a:rPr>
              <a:t>bastian</a:t>
            </a:r>
            <a:r>
              <a:rPr lang="en-US" altLang="en-US" sz="1600" dirty="0">
                <a:latin typeface="Copperplate Gothic Light" pitchFamily="34" charset="0"/>
              </a:rPr>
              <a:t> blessing company with colleague Lewis Blessing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Copperplate Gothic Light" pitchFamily="34" charset="0"/>
              </a:rPr>
              <a:t>1918 Bastian Blessing regulators used for gas welding equipment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solidFill>
                  <a:schemeClr val="hlink"/>
                </a:solidFill>
                <a:latin typeface="Copperplate Gothic Light" pitchFamily="34" charset="0"/>
              </a:rPr>
              <a:t>Acronym </a:t>
            </a:r>
            <a:r>
              <a:rPr lang="en-US" altLang="en-US" sz="1600" b="1" i="1" dirty="0">
                <a:solidFill>
                  <a:srgbClr val="FF3300"/>
                </a:solidFill>
                <a:latin typeface="Copperplate Gothic Light" pitchFamily="34" charset="0"/>
              </a:rPr>
              <a:t>reg</a:t>
            </a:r>
            <a:r>
              <a:rPr lang="en-US" altLang="en-US" sz="1600" dirty="0">
                <a:solidFill>
                  <a:schemeClr val="hlink"/>
                </a:solidFill>
                <a:latin typeface="Copperplate Gothic Light" pitchFamily="34" charset="0"/>
              </a:rPr>
              <a:t>ulator and </a:t>
            </a:r>
            <a:r>
              <a:rPr lang="en-US" altLang="en-US" sz="1600" b="1" i="1" dirty="0">
                <a:solidFill>
                  <a:srgbClr val="FF3300"/>
                </a:solidFill>
                <a:latin typeface="Copperplate Gothic Light" pitchFamily="34" charset="0"/>
              </a:rPr>
              <a:t>o</a:t>
            </a:r>
            <a:r>
              <a:rPr lang="en-US" altLang="en-US" sz="1600" dirty="0">
                <a:solidFill>
                  <a:schemeClr val="hlink"/>
                </a:solidFill>
                <a:latin typeface="Copperplate Gothic Light" pitchFamily="34" charset="0"/>
              </a:rPr>
              <a:t>xygen becomes </a:t>
            </a:r>
            <a:r>
              <a:rPr lang="en-US" altLang="en-US" sz="1600" dirty="0" err="1">
                <a:solidFill>
                  <a:schemeClr val="hlink"/>
                </a:solidFill>
                <a:latin typeface="Copperplate Gothic Light" pitchFamily="34" charset="0"/>
              </a:rPr>
              <a:t>RegO</a:t>
            </a:r>
            <a:endParaRPr lang="en-US" altLang="en-US" sz="1600" dirty="0">
              <a:solidFill>
                <a:schemeClr val="hlink"/>
              </a:solidFill>
              <a:latin typeface="Copperplate Gothic Light" pitchFamily="34" charset="0"/>
            </a:endParaRP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Copperplate Gothic Light" pitchFamily="34" charset="0"/>
              </a:rPr>
              <a:t>1920’s </a:t>
            </a:r>
            <a:r>
              <a:rPr lang="en-US" altLang="en-US" sz="1600" dirty="0" err="1">
                <a:latin typeface="Copperplate Gothic Light" pitchFamily="34" charset="0"/>
              </a:rPr>
              <a:t>RegO</a:t>
            </a:r>
            <a:r>
              <a:rPr lang="en-US" altLang="en-US" sz="1600" dirty="0">
                <a:latin typeface="Copperplate Gothic Light" pitchFamily="34" charset="0"/>
              </a:rPr>
              <a:t> Company pioneers gas regulator for propane – Bastian splits company into two </a:t>
            </a:r>
            <a:r>
              <a:rPr lang="en-US" altLang="en-US" sz="1600" dirty="0" smtClean="0">
                <a:latin typeface="Copperplate Gothic Light" pitchFamily="34" charset="0"/>
              </a:rPr>
              <a:t>divisions</a:t>
            </a:r>
            <a:endParaRPr lang="en-US" altLang="en-US" sz="1600" dirty="0">
              <a:latin typeface="Copperplate Gothic Light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en-US" dirty="0">
              <a:latin typeface="Copperplate Gothic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96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08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 descr="D:\B-000306-6T6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3581" y="971566"/>
            <a:ext cx="585303" cy="132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D:\B-840-6TAB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336" y="4447242"/>
            <a:ext cx="64928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D:\GS-110W-8S3AB.gi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0467" y="2572220"/>
            <a:ext cx="671533" cy="173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 descr="D:\S-231-12S4 VALVEAB.g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407" y="5410111"/>
            <a:ext cx="559147" cy="135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305785" y="250235"/>
            <a:ext cx="51443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opperplate Gothic Bold" pitchFamily="34" charset="0"/>
              </a:rPr>
              <a:t>RegO</a:t>
            </a:r>
            <a:r>
              <a:rPr lang="en-US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pperplate Gothic Bold" pitchFamily="34" charset="0"/>
              </a:rPr>
              <a:t>®</a:t>
            </a:r>
            <a:r>
              <a:rPr lang="en-US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Franklin Gothic Heavy" pitchFamily="34" charset="0"/>
              </a:rPr>
              <a:t> </a:t>
            </a:r>
            <a:r>
              <a:rPr lang="en-US" altLang="en-US" sz="2800" b="1" dirty="0">
                <a:latin typeface="Copperplate Gothic Bold" pitchFamily="34" charset="0"/>
              </a:rPr>
              <a:t>History of Excellence</a:t>
            </a:r>
          </a:p>
        </p:txBody>
      </p:sp>
      <p:pic>
        <p:nvPicPr>
          <p:cNvPr id="14" name="Picture 2" descr="C:\Documents and Settings\mtarala\My Documents\My Pictures\Rockfull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131" y="773455"/>
            <a:ext cx="6553200" cy="422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2305785" y="5121147"/>
            <a:ext cx="713167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i="1" dirty="0">
                <a:latin typeface="Copperplate Gothic Light" pitchFamily="34" charset="0"/>
              </a:rPr>
              <a:t>ECII  - Machining Facility</a:t>
            </a:r>
          </a:p>
          <a:p>
            <a:pPr>
              <a:spcBef>
                <a:spcPct val="50000"/>
              </a:spcBef>
            </a:pPr>
            <a:r>
              <a:rPr lang="en-US" altLang="en-US" sz="2800" i="1" dirty="0">
                <a:latin typeface="Copperplate Gothic Light" pitchFamily="34" charset="0"/>
              </a:rPr>
              <a:t>Rock Creek Industrial Park</a:t>
            </a:r>
          </a:p>
          <a:p>
            <a:pPr>
              <a:spcBef>
                <a:spcPct val="50000"/>
              </a:spcBef>
            </a:pPr>
            <a:r>
              <a:rPr lang="en-US" altLang="en-US" sz="2800" i="1" dirty="0" err="1">
                <a:latin typeface="Copperplate Gothic Light" pitchFamily="34" charset="0"/>
              </a:rPr>
              <a:t>Whitsett</a:t>
            </a:r>
            <a:r>
              <a:rPr lang="en-US" altLang="en-US" sz="2800" i="1" dirty="0">
                <a:latin typeface="Copperplate Gothic Light" pitchFamily="34" charset="0"/>
              </a:rPr>
              <a:t>, North Carolina</a:t>
            </a:r>
          </a:p>
        </p:txBody>
      </p:sp>
    </p:spTree>
    <p:extLst>
      <p:ext uri="{BB962C8B-B14F-4D97-AF65-F5344CB8AC3E}">
        <p14:creationId xmlns:p14="http://schemas.microsoft.com/office/powerpoint/2010/main" val="36078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7055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305785" y="250235"/>
            <a:ext cx="15071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Copperplate Gothic Bold" pitchFamily="34" charset="0"/>
              </a:rPr>
              <a:t>RegO</a:t>
            </a:r>
            <a:r>
              <a:rPr lang="en-US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opperplate Gothic Bold" pitchFamily="34" charset="0"/>
              </a:rPr>
              <a:t>®</a:t>
            </a:r>
            <a:r>
              <a:rPr lang="en-US" alt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Franklin Gothic Heavy" pitchFamily="34" charset="0"/>
              </a:rPr>
              <a:t> </a:t>
            </a:r>
            <a:endParaRPr lang="en-US" altLang="en-US" sz="2800" b="1" dirty="0">
              <a:latin typeface="Copperplate Gothic Bold" pitchFamily="34" charset="0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072707" y="276715"/>
            <a:ext cx="32192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1" i="1" dirty="0" smtClean="0">
                <a:solidFill>
                  <a:srgbClr val="FF0000"/>
                </a:solidFill>
                <a:latin typeface="Copperplate Gothic Light" pitchFamily="34" charset="0"/>
              </a:rPr>
              <a:t>CERTIFICATIONS</a:t>
            </a:r>
            <a:endParaRPr lang="en-US" altLang="en-US" sz="2800" b="1" i="1" dirty="0">
              <a:solidFill>
                <a:srgbClr val="FF0000"/>
              </a:solidFill>
              <a:latin typeface="Copperplate Gothic Light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38" y="1100054"/>
            <a:ext cx="762000" cy="771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640" y="1012879"/>
            <a:ext cx="945873" cy="9458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90" y="1036429"/>
            <a:ext cx="1387437" cy="8105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5910" y="2030069"/>
            <a:ext cx="3140717" cy="4113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9756" y="1958752"/>
            <a:ext cx="2969509" cy="418454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958752"/>
            <a:ext cx="2944901" cy="425586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0274" y="2030069"/>
            <a:ext cx="2821461" cy="4114170"/>
          </a:xfrm>
          <a:prstGeom prst="rect">
            <a:avLst/>
          </a:prstGeom>
        </p:spPr>
      </p:pic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2944901" y="6218490"/>
            <a:ext cx="73675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i="1" dirty="0">
                <a:solidFill>
                  <a:srgbClr val="FF0000"/>
                </a:solidFill>
                <a:latin typeface="Copperplate Gothic Light" pitchFamily="34" charset="0"/>
              </a:rPr>
              <a:t>MORE CERTIFICATIONS REFRE TO WEBSITE: http://www.regoproducts.com/cryo/certifications.html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506" y="891953"/>
            <a:ext cx="1759287" cy="8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4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13681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0936" y="301356"/>
            <a:ext cx="4470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</a:t>
            </a:r>
            <a:endParaRPr lang="en-SG" sz="2800" b="1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168246" y="2601360"/>
            <a:ext cx="535331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SG" dirty="0"/>
              <a:t>• </a:t>
            </a:r>
            <a:r>
              <a:rPr lang="en-SG" dirty="0" smtClean="0"/>
              <a:t>Material according to ASTMG93</a:t>
            </a:r>
          </a:p>
          <a:p>
            <a:endParaRPr lang="en-SG" dirty="0" smtClean="0"/>
          </a:p>
          <a:p>
            <a:r>
              <a:rPr lang="en-SG" dirty="0"/>
              <a:t>•</a:t>
            </a:r>
            <a:r>
              <a:rPr lang="en-SG" dirty="0" smtClean="0"/>
              <a:t> Cleaned </a:t>
            </a:r>
            <a:r>
              <a:rPr lang="en-SG" dirty="0"/>
              <a:t>for liquid oxygen service per CGA G-4.1.</a:t>
            </a:r>
          </a:p>
          <a:p>
            <a:r>
              <a:rPr lang="en-SG" dirty="0"/>
              <a:t>• Maximum working pressure is 609 PSIG. (42 Bar)</a:t>
            </a:r>
          </a:p>
          <a:p>
            <a:r>
              <a:rPr lang="en-SG" dirty="0"/>
              <a:t>• Working temperature range is -320°F to +165°F. (-196ºC to +74ºC)</a:t>
            </a:r>
          </a:p>
          <a:p>
            <a:r>
              <a:rPr lang="en-SG" dirty="0"/>
              <a:t>• 100% Factory Tested</a:t>
            </a:r>
            <a:endParaRPr lang="en-US" altLang="en-US" b="1" dirty="0"/>
          </a:p>
        </p:txBody>
      </p:sp>
      <p:pic>
        <p:nvPicPr>
          <p:cNvPr id="9" name="Picture 6" descr="D:\B-000306-6T6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488" y="2441093"/>
            <a:ext cx="585303" cy="132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D:\B-840-6TAB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712" y="4290375"/>
            <a:ext cx="64928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D:\GS-110W-8S3AB.gi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873" y="4309520"/>
            <a:ext cx="671533" cy="173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 descr="D:\S-231-12S4 VALVEAB.g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981" y="3391445"/>
            <a:ext cx="559147" cy="135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265119" y="1201870"/>
            <a:ext cx="10512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 smtClean="0">
                <a:solidFill>
                  <a:srgbClr val="FF0000"/>
                </a:solidFill>
              </a:rPr>
              <a:t>According American </a:t>
            </a:r>
            <a:r>
              <a:rPr lang="en-SG" sz="2400" dirty="0">
                <a:solidFill>
                  <a:srgbClr val="FF0000"/>
                </a:solidFill>
              </a:rPr>
              <a:t>Society for Testing and </a:t>
            </a:r>
            <a:r>
              <a:rPr lang="en-SG" sz="2400" dirty="0" smtClean="0">
                <a:solidFill>
                  <a:srgbClr val="FF0000"/>
                </a:solidFill>
              </a:rPr>
              <a:t>Materials</a:t>
            </a:r>
          </a:p>
          <a:p>
            <a:r>
              <a:rPr lang="en-SG" sz="2400" dirty="0" smtClean="0">
                <a:solidFill>
                  <a:srgbClr val="FF0000"/>
                </a:solidFill>
              </a:rPr>
              <a:t>ASTMG93 </a:t>
            </a:r>
            <a:r>
              <a:rPr lang="en-SG" sz="2400" dirty="0">
                <a:solidFill>
                  <a:srgbClr val="FF0000"/>
                </a:solidFill>
              </a:rPr>
              <a:t>and CGA G-4.1 </a:t>
            </a:r>
            <a:r>
              <a:rPr lang="en-SG" sz="2400" dirty="0" smtClean="0">
                <a:solidFill>
                  <a:srgbClr val="FF0000"/>
                </a:solidFill>
              </a:rPr>
              <a:t>which assures </a:t>
            </a:r>
            <a:r>
              <a:rPr lang="en-SG" sz="2400" dirty="0">
                <a:solidFill>
                  <a:srgbClr val="FF0000"/>
                </a:solidFill>
              </a:rPr>
              <a:t>removal of visible </a:t>
            </a:r>
            <a:r>
              <a:rPr lang="en-SG" sz="2400" dirty="0" smtClean="0">
                <a:solidFill>
                  <a:srgbClr val="FF0000"/>
                </a:solidFill>
              </a:rPr>
              <a:t>particles and </a:t>
            </a:r>
            <a:r>
              <a:rPr lang="en-SG" sz="2400" dirty="0">
                <a:solidFill>
                  <a:srgbClr val="FF0000"/>
                </a:solidFill>
              </a:rPr>
              <a:t>combustible residues</a:t>
            </a:r>
          </a:p>
        </p:txBody>
      </p:sp>
    </p:spTree>
    <p:extLst>
      <p:ext uri="{BB962C8B-B14F-4D97-AF65-F5344CB8AC3E}">
        <p14:creationId xmlns:p14="http://schemas.microsoft.com/office/powerpoint/2010/main" val="21898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10936" y="301356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28796" y="3114127"/>
            <a:ext cx="5353318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000" b="1" dirty="0"/>
              <a:t>BRONZE GLOBE </a:t>
            </a:r>
            <a:r>
              <a:rPr lang="en-US" altLang="en-US" sz="2000" b="1" dirty="0" smtClean="0"/>
              <a:t>VALVES</a:t>
            </a:r>
            <a:endParaRPr lang="en-US" altLang="en-US" sz="2000" b="1" dirty="0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000" b="1" dirty="0"/>
              <a:t>BRONZE GATE </a:t>
            </a:r>
            <a:r>
              <a:rPr lang="en-US" altLang="en-US" sz="2000" b="1" dirty="0" smtClean="0"/>
              <a:t>VALVES</a:t>
            </a:r>
            <a:endParaRPr lang="en-US" altLang="en-US" sz="2000" b="1" dirty="0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000" b="1" dirty="0"/>
              <a:t>BRONZE CHECK </a:t>
            </a:r>
            <a:r>
              <a:rPr lang="en-US" altLang="en-US" sz="2000" b="1" dirty="0" smtClean="0"/>
              <a:t>VALVES</a:t>
            </a:r>
            <a:endParaRPr lang="en-US" altLang="en-US" sz="2000" b="1" dirty="0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000" b="1" dirty="0"/>
              <a:t>SST GLOBE </a:t>
            </a:r>
            <a:r>
              <a:rPr lang="en-US" altLang="en-US" sz="2000" b="1" dirty="0" smtClean="0"/>
              <a:t>VALVES</a:t>
            </a:r>
            <a:endParaRPr lang="en-US" altLang="en-US" sz="2000" b="1" dirty="0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000" b="1" dirty="0"/>
              <a:t>SST GATE </a:t>
            </a:r>
            <a:r>
              <a:rPr lang="en-US" altLang="en-US" sz="2000" b="1" dirty="0" smtClean="0"/>
              <a:t>VALVES</a:t>
            </a:r>
            <a:endParaRPr lang="en-US" altLang="en-US" sz="2000" b="1" dirty="0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000" b="1" dirty="0"/>
              <a:t>SST CHECK </a:t>
            </a:r>
            <a:r>
              <a:rPr lang="en-US" altLang="en-US" sz="2000" b="1" dirty="0" smtClean="0"/>
              <a:t>VALVES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000" b="1" dirty="0" smtClean="0"/>
              <a:t>SHOT STEM VALVE</a:t>
            </a:r>
            <a:endParaRPr lang="en-US" altLang="en-US" sz="2000" b="1" dirty="0"/>
          </a:p>
          <a:p>
            <a:pPr>
              <a:spcBef>
                <a:spcPct val="50000"/>
              </a:spcBef>
            </a:pPr>
            <a:endParaRPr lang="en-US" altLang="en-US" b="1" dirty="0"/>
          </a:p>
        </p:txBody>
      </p:sp>
      <p:pic>
        <p:nvPicPr>
          <p:cNvPr id="8" name="Picture 5" descr="D:\B-266ULL-12S6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097" y="1700252"/>
            <a:ext cx="622701" cy="1667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D:\B-000306-6T6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509" y="2453079"/>
            <a:ext cx="585303" cy="132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D:\B-840-6TAB.gi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478" y="3642009"/>
            <a:ext cx="64928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D:\GS-110W-8S3AB.g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794" y="3429794"/>
            <a:ext cx="671533" cy="173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 descr="D:\S-231-12S4 VALVEAB.gif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981" y="3391445"/>
            <a:ext cx="559147" cy="135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D:\S88612SAB.gif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9286" y="5024899"/>
            <a:ext cx="998406" cy="80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1284" y="5379705"/>
            <a:ext cx="1163555" cy="10381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76370" y="694432"/>
            <a:ext cx="85159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 smtClean="0">
                <a:solidFill>
                  <a:srgbClr val="FF0000"/>
                </a:solidFill>
              </a:rPr>
              <a:t>According American </a:t>
            </a:r>
            <a:r>
              <a:rPr lang="en-SG" sz="2400" dirty="0">
                <a:solidFill>
                  <a:srgbClr val="FF0000"/>
                </a:solidFill>
              </a:rPr>
              <a:t>Society for Testing and </a:t>
            </a:r>
            <a:r>
              <a:rPr lang="en-SG" sz="2400" dirty="0" smtClean="0">
                <a:solidFill>
                  <a:srgbClr val="FF0000"/>
                </a:solidFill>
              </a:rPr>
              <a:t>Materials</a:t>
            </a:r>
          </a:p>
          <a:p>
            <a:r>
              <a:rPr lang="en-SG" sz="2400" dirty="0" smtClean="0">
                <a:solidFill>
                  <a:srgbClr val="FF0000"/>
                </a:solidFill>
              </a:rPr>
              <a:t>ASTMG93 </a:t>
            </a:r>
            <a:r>
              <a:rPr lang="en-SG" sz="2400" dirty="0">
                <a:solidFill>
                  <a:srgbClr val="FF0000"/>
                </a:solidFill>
              </a:rPr>
              <a:t>and CGA G-4.1 </a:t>
            </a:r>
            <a:r>
              <a:rPr lang="en-SG" sz="2400" dirty="0" smtClean="0">
                <a:solidFill>
                  <a:srgbClr val="FF0000"/>
                </a:solidFill>
              </a:rPr>
              <a:t>which assures </a:t>
            </a:r>
            <a:r>
              <a:rPr lang="en-SG" sz="2400" dirty="0">
                <a:solidFill>
                  <a:srgbClr val="FF0000"/>
                </a:solidFill>
              </a:rPr>
              <a:t>removal of visible </a:t>
            </a:r>
            <a:r>
              <a:rPr lang="en-SG" sz="2400" dirty="0" smtClean="0">
                <a:solidFill>
                  <a:srgbClr val="FF0000"/>
                </a:solidFill>
              </a:rPr>
              <a:t>particles</a:t>
            </a:r>
          </a:p>
          <a:p>
            <a:r>
              <a:rPr lang="en-SG" sz="2400" dirty="0" smtClean="0">
                <a:solidFill>
                  <a:srgbClr val="FF0000"/>
                </a:solidFill>
              </a:rPr>
              <a:t>and </a:t>
            </a:r>
            <a:r>
              <a:rPr lang="en-SG" sz="2400" dirty="0">
                <a:solidFill>
                  <a:srgbClr val="FF0000"/>
                </a:solidFill>
              </a:rPr>
              <a:t>combustible residues</a:t>
            </a:r>
          </a:p>
        </p:txBody>
      </p:sp>
    </p:spTree>
    <p:extLst>
      <p:ext uri="{BB962C8B-B14F-4D97-AF65-F5344CB8AC3E}">
        <p14:creationId xmlns:p14="http://schemas.microsoft.com/office/powerpoint/2010/main" val="3523547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66913" y="175252"/>
            <a:ext cx="4470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</a:t>
            </a:r>
            <a:endParaRPr lang="en-SG" sz="2800" b="1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28796" y="3114127"/>
            <a:ext cx="5353318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n-SG" sz="2000" b="1" dirty="0"/>
              <a:t>Cryogenic Pressure Builder</a:t>
            </a:r>
            <a:endParaRPr lang="en-US" altLang="en-US" sz="2000" b="1" dirty="0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SG" sz="2000" b="1" dirty="0"/>
              <a:t>Cryogenic </a:t>
            </a:r>
            <a:r>
              <a:rPr lang="en-SG" sz="2000" b="1" dirty="0" smtClean="0"/>
              <a:t>Economizers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SG" sz="2000" b="1" dirty="0"/>
              <a:t>Relief </a:t>
            </a:r>
            <a:r>
              <a:rPr lang="en-SG" sz="2000" b="1" dirty="0" smtClean="0"/>
              <a:t>Valves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SG" sz="2000" b="1" dirty="0"/>
              <a:t>Cryogenic Fill </a:t>
            </a:r>
            <a:r>
              <a:rPr lang="en-SG" sz="2000" b="1" dirty="0" smtClean="0"/>
              <a:t>Manifold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SG" sz="2000" b="1" dirty="0"/>
              <a:t>Bulk Vessel Safety Assembly – Relief Valve, Diverter</a:t>
            </a:r>
            <a:endParaRPr lang="en-SG" sz="2000" b="1" dirty="0" smtClean="0"/>
          </a:p>
          <a:p>
            <a:pPr marL="0" indent="0">
              <a:spcBef>
                <a:spcPct val="50000"/>
              </a:spcBef>
            </a:pPr>
            <a:endParaRPr lang="en-US" altLang="en-US" sz="2000" b="1" dirty="0"/>
          </a:p>
          <a:p>
            <a:pPr>
              <a:spcBef>
                <a:spcPct val="50000"/>
              </a:spcBef>
            </a:pPr>
            <a:endParaRPr lang="en-US" alt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244" y="2772218"/>
            <a:ext cx="1511804" cy="23342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0536" y="2444716"/>
            <a:ext cx="1428553" cy="19701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5422" y="1708076"/>
            <a:ext cx="1156959" cy="212828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2702" y="3867312"/>
            <a:ext cx="1392281" cy="25288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59" y="3328744"/>
            <a:ext cx="1649859" cy="2389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66913" y="592399"/>
            <a:ext cx="71436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 smtClean="0">
                <a:solidFill>
                  <a:srgbClr val="FF0000"/>
                </a:solidFill>
              </a:rPr>
              <a:t>According to American </a:t>
            </a:r>
            <a:r>
              <a:rPr lang="en-SG" sz="2000" dirty="0">
                <a:solidFill>
                  <a:srgbClr val="FF0000"/>
                </a:solidFill>
              </a:rPr>
              <a:t>Society for Testing and </a:t>
            </a:r>
            <a:r>
              <a:rPr lang="en-SG" sz="2000" dirty="0" smtClean="0">
                <a:solidFill>
                  <a:srgbClr val="FF0000"/>
                </a:solidFill>
              </a:rPr>
              <a:t>Materials</a:t>
            </a:r>
          </a:p>
          <a:p>
            <a:r>
              <a:rPr lang="en-SG" sz="2000" dirty="0" smtClean="0">
                <a:solidFill>
                  <a:srgbClr val="FF0000"/>
                </a:solidFill>
              </a:rPr>
              <a:t>ASTMG93 </a:t>
            </a:r>
            <a:r>
              <a:rPr lang="en-SG" sz="2000" dirty="0">
                <a:solidFill>
                  <a:srgbClr val="FF0000"/>
                </a:solidFill>
              </a:rPr>
              <a:t>and CGA G-4.1 </a:t>
            </a:r>
            <a:r>
              <a:rPr lang="en-SG" sz="2000" dirty="0" smtClean="0">
                <a:solidFill>
                  <a:srgbClr val="FF0000"/>
                </a:solidFill>
              </a:rPr>
              <a:t>which assures </a:t>
            </a:r>
            <a:r>
              <a:rPr lang="en-SG" sz="2000" dirty="0">
                <a:solidFill>
                  <a:srgbClr val="FF0000"/>
                </a:solidFill>
              </a:rPr>
              <a:t>removal of visible </a:t>
            </a:r>
            <a:r>
              <a:rPr lang="en-SG" sz="2000" dirty="0" smtClean="0">
                <a:solidFill>
                  <a:srgbClr val="FF0000"/>
                </a:solidFill>
              </a:rPr>
              <a:t>particles</a:t>
            </a:r>
          </a:p>
          <a:p>
            <a:r>
              <a:rPr lang="en-SG" sz="2000" dirty="0" smtClean="0">
                <a:solidFill>
                  <a:srgbClr val="FF0000"/>
                </a:solidFill>
              </a:rPr>
              <a:t>and </a:t>
            </a:r>
            <a:r>
              <a:rPr lang="en-SG" sz="2000" dirty="0">
                <a:solidFill>
                  <a:srgbClr val="FF0000"/>
                </a:solidFill>
              </a:rPr>
              <a:t>combustible residues</a:t>
            </a:r>
          </a:p>
        </p:txBody>
      </p:sp>
    </p:spTree>
    <p:extLst>
      <p:ext uri="{BB962C8B-B14F-4D97-AF65-F5344CB8AC3E}">
        <p14:creationId xmlns:p14="http://schemas.microsoft.com/office/powerpoint/2010/main" val="314034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3006" y="890588"/>
            <a:ext cx="8963756" cy="59674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50771" y="186065"/>
            <a:ext cx="8908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237474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60619" y="186065"/>
            <a:ext cx="8836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619" y="632153"/>
            <a:ext cx="8721330" cy="6225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46980" y="2274322"/>
            <a:ext cx="1473160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COMBO REGULATOR</a:t>
            </a:r>
          </a:p>
          <a:p>
            <a:r>
              <a:rPr lang="en-SG" sz="1200" dirty="0" smtClean="0"/>
              <a:t>CBH, CBC SERIES</a:t>
            </a:r>
            <a:endParaRPr lang="en-SG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7216045" y="5904017"/>
            <a:ext cx="1213922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SHUT OFF VALVE</a:t>
            </a:r>
          </a:p>
          <a:p>
            <a:r>
              <a:rPr lang="en-SG" sz="1200" dirty="0" smtClean="0"/>
              <a:t>T9460 SERIES</a:t>
            </a:r>
            <a:endParaRPr lang="en-SG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2285583" y="6000029"/>
            <a:ext cx="1682961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PRESSURE RELIEF VALVE</a:t>
            </a:r>
          </a:p>
          <a:p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0110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306" y="859872"/>
            <a:ext cx="2362175" cy="57816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836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574" y="1095140"/>
            <a:ext cx="3413343" cy="53259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303" y="3271340"/>
            <a:ext cx="3309432" cy="313932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SG" dirty="0" smtClean="0"/>
              <a:t>SAFETY RELIEF VALVE</a:t>
            </a:r>
          </a:p>
          <a:p>
            <a:pPr marL="342900" indent="-342900">
              <a:buAutoNum type="arabicParenR"/>
            </a:pPr>
            <a:r>
              <a:rPr lang="en-SG" dirty="0" smtClean="0"/>
              <a:t>DRAIN VALVE</a:t>
            </a:r>
          </a:p>
          <a:p>
            <a:pPr marL="342900" indent="-342900">
              <a:buAutoNum type="arabicParenR"/>
            </a:pPr>
            <a:r>
              <a:rPr lang="en-SG" dirty="0" smtClean="0"/>
              <a:t>OUTLET VALVE</a:t>
            </a:r>
          </a:p>
          <a:p>
            <a:pPr marL="342900" indent="-342900">
              <a:buAutoNum type="arabicParenR"/>
            </a:pPr>
            <a:r>
              <a:rPr lang="en-SG" dirty="0" smtClean="0"/>
              <a:t>PRESSURE GAUGE</a:t>
            </a:r>
          </a:p>
          <a:p>
            <a:pPr marL="342900" indent="-342900">
              <a:buAutoNum type="arabicParenR"/>
            </a:pPr>
            <a:r>
              <a:rPr lang="en-SG" dirty="0" smtClean="0"/>
              <a:t>PRESSURE BUILDER VALVE</a:t>
            </a:r>
          </a:p>
          <a:p>
            <a:pPr marL="342900" indent="-342900">
              <a:buAutoNum type="arabicParenR"/>
            </a:pPr>
            <a:r>
              <a:rPr lang="en-SG" dirty="0" smtClean="0"/>
              <a:t>COMBINE PRESSURE BUILDER</a:t>
            </a:r>
          </a:p>
          <a:p>
            <a:r>
              <a:rPr lang="en-SG" dirty="0" smtClean="0"/>
              <a:t>      AND ECONOMIZER</a:t>
            </a:r>
          </a:p>
          <a:p>
            <a:r>
              <a:rPr lang="en-SG" dirty="0" smtClean="0"/>
              <a:t>7) LEVEL GAUGE</a:t>
            </a:r>
          </a:p>
          <a:p>
            <a:r>
              <a:rPr lang="en-SG" dirty="0" smtClean="0"/>
              <a:t>8) LIQUID IN/OUTLET VALVE</a:t>
            </a:r>
          </a:p>
          <a:p>
            <a:pPr marL="342900" indent="-342900">
              <a:buAutoNum type="arabicParenR"/>
            </a:pPr>
            <a:endParaRPr lang="en-SG" dirty="0" smtClean="0"/>
          </a:p>
          <a:p>
            <a:pPr marL="342900" indent="-342900">
              <a:buAutoNum type="arabicParenR"/>
            </a:pP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1716748" y="5153277"/>
            <a:ext cx="914400" cy="28575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SG" sz="1200" dirty="0" smtClean="0"/>
              <a:t>VAPORIZER</a:t>
            </a:r>
            <a:endParaRPr lang="en-SG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716748" y="6179829"/>
            <a:ext cx="914400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SG" sz="1200" dirty="0" smtClean="0"/>
              <a:t>BOTTOM OUTLET</a:t>
            </a:r>
            <a:endParaRPr lang="en-SG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276" y="776859"/>
            <a:ext cx="8223723" cy="61677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414" y="771448"/>
            <a:ext cx="8624622" cy="6468467"/>
          </a:xfrm>
          <a:prstGeom prst="rect">
            <a:avLst/>
          </a:prstGeom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778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836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693" y="709285"/>
            <a:ext cx="8108373" cy="61487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09871" y="2021983"/>
            <a:ext cx="1107354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NEEDER VALVE</a:t>
            </a:r>
          </a:p>
          <a:p>
            <a:r>
              <a:rPr lang="en-SG" sz="1200" dirty="0" smtClean="0"/>
              <a:t>CMM SERIES</a:t>
            </a:r>
            <a:endParaRPr lang="en-SG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2395470" y="2509107"/>
            <a:ext cx="1472839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ANGLE RELIEF VALVE</a:t>
            </a:r>
          </a:p>
          <a:p>
            <a:r>
              <a:rPr lang="en-SG" sz="1200" dirty="0" smtClean="0"/>
              <a:t> AR SERIES</a:t>
            </a:r>
            <a:endParaRPr lang="en-SG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2377882" y="3893288"/>
            <a:ext cx="1214884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DIVERTER VALVE</a:t>
            </a:r>
          </a:p>
          <a:p>
            <a:r>
              <a:rPr lang="en-SG" sz="1200" dirty="0" smtClean="0"/>
              <a:t>DR SERIES</a:t>
            </a:r>
            <a:endParaRPr lang="en-SG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8454563" y="3091145"/>
            <a:ext cx="1637115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FILL MANIFOLD</a:t>
            </a:r>
          </a:p>
          <a:p>
            <a:r>
              <a:rPr lang="en-SG" sz="1200" dirty="0" smtClean="0"/>
              <a:t>CFM, AFM, PFM SERIES</a:t>
            </a:r>
            <a:endParaRPr lang="en-SG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2234435" y="6185631"/>
            <a:ext cx="1886804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SG" sz="1200" dirty="0" smtClean="0"/>
              <a:t>GLOBE VALVE</a:t>
            </a:r>
          </a:p>
          <a:p>
            <a:r>
              <a:rPr lang="en-SG" sz="1200" dirty="0" smtClean="0"/>
              <a:t>SK SERIES, SKB SERIES</a:t>
            </a:r>
            <a:endParaRPr lang="en-SG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8454563" y="4415928"/>
            <a:ext cx="1682961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PRESSURE RELIEF VALVE</a:t>
            </a:r>
          </a:p>
          <a:p>
            <a:r>
              <a:rPr lang="en-SG" sz="1200" dirty="0" smtClean="0"/>
              <a:t>9400 SERIES</a:t>
            </a:r>
            <a:endParaRPr lang="en-SG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8454563" y="6202378"/>
            <a:ext cx="1032783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SG" sz="1200" dirty="0" smtClean="0"/>
              <a:t>REGULATOR</a:t>
            </a:r>
          </a:p>
          <a:p>
            <a:r>
              <a:rPr lang="en-SG" sz="1200" dirty="0" smtClean="0"/>
              <a:t>CB504 SERIES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3419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8" y="1592166"/>
            <a:ext cx="9821417" cy="4917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09870" y="1068946"/>
            <a:ext cx="4314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LNG TANK MANUFACTURER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172737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792" y="709286"/>
            <a:ext cx="8383493" cy="614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6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8" y="1272738"/>
            <a:ext cx="3762730" cy="52094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643" y="1272738"/>
            <a:ext cx="3790425" cy="520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2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96" y="2043037"/>
            <a:ext cx="2625275" cy="3935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633" y="1919685"/>
            <a:ext cx="2952969" cy="418187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521" y="2043037"/>
            <a:ext cx="2855951" cy="40444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9733" y="1338515"/>
            <a:ext cx="3514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smtClean="0"/>
              <a:t>PANDENT FOR LOW TEMPERATURE </a:t>
            </a:r>
          </a:p>
          <a:p>
            <a:r>
              <a:rPr lang="en-SG" dirty="0" smtClean="0"/>
              <a:t>CYLINDER DEPRESSURIZE METHOD </a:t>
            </a:r>
            <a:endParaRPr lang="en-SG" dirty="0"/>
          </a:p>
        </p:txBody>
      </p:sp>
      <p:sp>
        <p:nvSpPr>
          <p:cNvPr id="14" name="TextBox 13"/>
          <p:cNvSpPr txBox="1"/>
          <p:nvPr/>
        </p:nvSpPr>
        <p:spPr>
          <a:xfrm>
            <a:off x="3679069" y="856239"/>
            <a:ext cx="35350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smtClean="0"/>
              <a:t>PANDENT FOR LOW TEMPERATURE </a:t>
            </a:r>
          </a:p>
          <a:p>
            <a:r>
              <a:rPr lang="en-SG" dirty="0" smtClean="0"/>
              <a:t>CYLINDER PRESSURIZE INCREASING </a:t>
            </a:r>
          </a:p>
          <a:p>
            <a:r>
              <a:rPr lang="en-SG" dirty="0" smtClean="0"/>
              <a:t>METHOD </a:t>
            </a:r>
            <a:endParaRPr lang="en-SG" dirty="0"/>
          </a:p>
        </p:txBody>
      </p:sp>
      <p:sp>
        <p:nvSpPr>
          <p:cNvPr id="15" name="TextBox 14"/>
          <p:cNvSpPr txBox="1"/>
          <p:nvPr/>
        </p:nvSpPr>
        <p:spPr>
          <a:xfrm>
            <a:off x="7673572" y="930529"/>
            <a:ext cx="4058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smtClean="0"/>
              <a:t>PANDENT FOR LOW TEMPERATURE </a:t>
            </a:r>
          </a:p>
          <a:p>
            <a:r>
              <a:rPr lang="en-SG" dirty="0" smtClean="0"/>
              <a:t>CYLINDER VACUMN TUBING CONNECTOR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800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54868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06" y="2062577"/>
            <a:ext cx="2649033" cy="37514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517" y="2037238"/>
            <a:ext cx="2666926" cy="37767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9733" y="1338515"/>
            <a:ext cx="3410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G" dirty="0" smtClean="0"/>
          </a:p>
          <a:p>
            <a:r>
              <a:rPr lang="en-SG" dirty="0" smtClean="0"/>
              <a:t>VERTICLE CYLINDER CONNECTION</a:t>
            </a:r>
            <a:endParaRPr lang="en-SG" dirty="0"/>
          </a:p>
        </p:txBody>
      </p:sp>
      <p:sp>
        <p:nvSpPr>
          <p:cNvPr id="18" name="TextBox 17"/>
          <p:cNvSpPr txBox="1"/>
          <p:nvPr/>
        </p:nvSpPr>
        <p:spPr>
          <a:xfrm>
            <a:off x="3620218" y="1072726"/>
            <a:ext cx="3347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G" dirty="0" smtClean="0"/>
          </a:p>
          <a:p>
            <a:r>
              <a:rPr lang="en-SG" dirty="0" smtClean="0"/>
              <a:t>LOW TEMP. INSULATION TESTING </a:t>
            </a:r>
          </a:p>
          <a:p>
            <a:r>
              <a:rPr lang="en-SG" dirty="0" smtClean="0"/>
              <a:t>METHOD </a:t>
            </a:r>
            <a:endParaRPr lang="en-S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921" y="2154443"/>
            <a:ext cx="2731634" cy="38684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32031" y="1200015"/>
            <a:ext cx="35101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G" dirty="0" smtClean="0"/>
          </a:p>
          <a:p>
            <a:r>
              <a:rPr lang="en-SG" dirty="0" smtClean="0"/>
              <a:t>LOW TEMP. CYLINDER SUPPORTING</a:t>
            </a:r>
          </a:p>
          <a:p>
            <a:r>
              <a:rPr lang="en-SG" dirty="0" smtClean="0"/>
              <a:t>METHOD </a:t>
            </a:r>
            <a:endParaRPr lang="en-SG" dirty="0"/>
          </a:p>
        </p:txBody>
      </p:sp>
      <p:sp>
        <p:nvSpPr>
          <p:cNvPr id="11" name="TextBox 10"/>
          <p:cNvSpPr txBox="1"/>
          <p:nvPr/>
        </p:nvSpPr>
        <p:spPr>
          <a:xfrm>
            <a:off x="3620218" y="6280538"/>
            <a:ext cx="2486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>
                <a:solidFill>
                  <a:srgbClr val="FF0000"/>
                </a:solidFill>
              </a:rPr>
              <a:t>AND MORE…….</a:t>
            </a:r>
            <a:endParaRPr lang="en-SG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82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99719"/>
            <a:ext cx="8394100" cy="61459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224" y="1667250"/>
            <a:ext cx="2643094" cy="461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6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224" y="1667250"/>
            <a:ext cx="2643094" cy="46108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647" y="1919730"/>
            <a:ext cx="8280424" cy="38671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3187" y="1396510"/>
            <a:ext cx="4049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>
                <a:solidFill>
                  <a:srgbClr val="FF0000"/>
                </a:solidFill>
              </a:rPr>
              <a:t>FILLING OF LNG CYLINDER</a:t>
            </a:r>
            <a:endParaRPr lang="en-SG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03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605096" cy="724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95" y="709285"/>
            <a:ext cx="4383109" cy="32873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570" y="709285"/>
            <a:ext cx="4618540" cy="34639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37" y="3229289"/>
            <a:ext cx="4846749" cy="36350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468" y="3650436"/>
            <a:ext cx="4760324" cy="307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6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605096" cy="724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936" y="602511"/>
            <a:ext cx="4416837" cy="33126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541" y="3638487"/>
            <a:ext cx="4515626" cy="29144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11" y="1202159"/>
            <a:ext cx="3361977" cy="24363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04" y="3915139"/>
            <a:ext cx="3315283" cy="235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9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4"/>
            <a:ext cx="1669491" cy="753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461" y="799935"/>
            <a:ext cx="4229133" cy="29557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70" y="799935"/>
            <a:ext cx="4102141" cy="30766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472" y="3019256"/>
            <a:ext cx="5118323" cy="383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4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058" y="2103862"/>
            <a:ext cx="7118646" cy="47541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96237" y="944908"/>
            <a:ext cx="38000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 dirty="0" smtClean="0"/>
              <a:t>Size range: 1000L – 5000L</a:t>
            </a:r>
          </a:p>
          <a:p>
            <a:r>
              <a:rPr lang="en-SG" sz="2400" b="1" dirty="0" smtClean="0"/>
              <a:t>Pressure range: .8 – 3.5 </a:t>
            </a:r>
            <a:r>
              <a:rPr lang="en-SG" sz="2400" b="1" dirty="0" err="1" smtClean="0"/>
              <a:t>Mpa</a:t>
            </a:r>
            <a:endParaRPr lang="en-SG" sz="2400" b="1" dirty="0" smtClean="0"/>
          </a:p>
          <a:p>
            <a:r>
              <a:rPr lang="en-SG" sz="2400" b="1" dirty="0" smtClean="0"/>
              <a:t>Vertical type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158980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065172" y="765972"/>
            <a:ext cx="4588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 dirty="0" smtClean="0"/>
              <a:t>Vaporizer to any requested size.</a:t>
            </a:r>
          </a:p>
          <a:p>
            <a:r>
              <a:rPr lang="en-SG" sz="2400" b="1" dirty="0" smtClean="0"/>
              <a:t>Ambien temperature vaporization </a:t>
            </a:r>
            <a:endParaRPr lang="en-SG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1685" y="1890381"/>
            <a:ext cx="6272011" cy="46842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7245" y="1580590"/>
            <a:ext cx="8642975" cy="516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5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768958" y="890587"/>
            <a:ext cx="5079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 dirty="0" smtClean="0"/>
              <a:t>Vaporizer to any requested size.</a:t>
            </a:r>
          </a:p>
          <a:p>
            <a:r>
              <a:rPr lang="en-SG" sz="2400" b="1" dirty="0" smtClean="0"/>
              <a:t>Natural vaporization or Electrical type</a:t>
            </a:r>
            <a:endParaRPr lang="en-SG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0539" y="2069128"/>
            <a:ext cx="3145926" cy="28775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792" y="2103271"/>
            <a:ext cx="4239515" cy="27825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282" y="2130018"/>
            <a:ext cx="4506718" cy="27557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02" y="1863207"/>
            <a:ext cx="6479360" cy="485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4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41" y="969076"/>
            <a:ext cx="10674879" cy="58167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76232" y="890587"/>
            <a:ext cx="276748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SG" dirty="0" smtClean="0"/>
              <a:t>UNLOADING BOOSTER SKID</a:t>
            </a:r>
            <a:endParaRPr lang="en-SG" dirty="0"/>
          </a:p>
        </p:txBody>
      </p:sp>
      <p:sp>
        <p:nvSpPr>
          <p:cNvPr id="8" name="TextBox 7"/>
          <p:cNvSpPr txBox="1"/>
          <p:nvPr/>
        </p:nvSpPr>
        <p:spPr>
          <a:xfrm>
            <a:off x="1966913" y="1041214"/>
            <a:ext cx="126425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SG" dirty="0" smtClean="0"/>
              <a:t>TANKS SKID</a:t>
            </a:r>
            <a:endParaRPr lang="en-SG" dirty="0"/>
          </a:p>
        </p:txBody>
      </p:sp>
      <p:sp>
        <p:nvSpPr>
          <p:cNvPr id="9" name="TextBox 8"/>
          <p:cNvSpPr txBox="1"/>
          <p:nvPr/>
        </p:nvSpPr>
        <p:spPr>
          <a:xfrm>
            <a:off x="2095427" y="5536449"/>
            <a:ext cx="171591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SG" dirty="0" smtClean="0"/>
              <a:t>VAPORIZER SKID</a:t>
            </a:r>
            <a:endParaRPr lang="en-SG" dirty="0"/>
          </a:p>
        </p:txBody>
      </p:sp>
      <p:sp>
        <p:nvSpPr>
          <p:cNvPr id="10" name="TextBox 9"/>
          <p:cNvSpPr txBox="1"/>
          <p:nvPr/>
        </p:nvSpPr>
        <p:spPr>
          <a:xfrm>
            <a:off x="4938819" y="5167117"/>
            <a:ext cx="202170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SG" dirty="0" smtClean="0"/>
              <a:t>REGULATING VALVE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3657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836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71890"/>
            <a:ext cx="2926165" cy="3774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9857" y="1235925"/>
            <a:ext cx="4970544" cy="321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2707" y="768370"/>
            <a:ext cx="1916818" cy="2607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81421" y="531403"/>
            <a:ext cx="7347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>
                <a:solidFill>
                  <a:srgbClr val="FF0000"/>
                </a:solidFill>
              </a:rPr>
              <a:t>Small/Medium Gas Supply System with Cylinder</a:t>
            </a:r>
            <a:endParaRPr lang="en-SG" sz="28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6074" y="3434557"/>
            <a:ext cx="4077953" cy="350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3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95470" y="186065"/>
            <a:ext cx="875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REGO CRYOGINIC PRODUCTS/ LNG TANK MANUFACTURER</a:t>
            </a:r>
            <a:endParaRPr lang="en-SG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772" y="3968120"/>
            <a:ext cx="3728335" cy="27652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789" y="2408349"/>
            <a:ext cx="3998983" cy="2987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8" y="1086799"/>
            <a:ext cx="3973896" cy="28813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0734" y="5527891"/>
            <a:ext cx="7959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600" b="1" dirty="0" smtClean="0">
                <a:solidFill>
                  <a:srgbClr val="FF0000"/>
                </a:solidFill>
              </a:rPr>
              <a:t>System design to your required flow rate</a:t>
            </a:r>
            <a:endParaRPr lang="en-SG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3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3675062"/>
            <a:ext cx="8467725" cy="31813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407019"/>
              </p:ext>
            </p:extLst>
          </p:nvPr>
        </p:nvGraphicFramePr>
        <p:xfrm>
          <a:off x="231820" y="991675"/>
          <a:ext cx="11797047" cy="26833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2026"/>
                <a:gridCol w="1101523"/>
                <a:gridCol w="1228133"/>
                <a:gridCol w="1281944"/>
                <a:gridCol w="1433877"/>
                <a:gridCol w="1164828"/>
                <a:gridCol w="1329424"/>
                <a:gridCol w="1240794"/>
                <a:gridCol w="1924498"/>
              </a:tblGrid>
              <a:tr h="393022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SG" sz="1300" u="none" strike="noStrike">
                          <a:effectLst/>
                        </a:rPr>
                        <a:t>LNG Transportation</a:t>
                      </a:r>
                      <a:endParaRPr lang="en-SG" sz="13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</a:tr>
              <a:tr h="284601"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</a:tr>
              <a:tr h="32526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u="none" strike="noStrike">
                          <a:effectLst/>
                        </a:rPr>
                        <a:t>Item</a:t>
                      </a:r>
                      <a:endParaRPr lang="en-SG" sz="1100" b="0" i="0" u="none" strike="noStrike">
                        <a:solidFill>
                          <a:srgbClr val="333333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u="none" strike="noStrike">
                          <a:effectLst/>
                        </a:rPr>
                        <a:t>Type of gas</a:t>
                      </a:r>
                      <a:endParaRPr lang="en-SG" sz="1100" b="0" i="0" u="none" strike="noStrike">
                        <a:solidFill>
                          <a:srgbClr val="333333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u="none" strike="noStrike">
                          <a:effectLst/>
                        </a:rPr>
                        <a:t>Volume (M3)</a:t>
                      </a:r>
                      <a:endParaRPr lang="en-SG" sz="1100" b="0" i="0" u="none" strike="noStrike">
                        <a:solidFill>
                          <a:srgbClr val="333333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SG" sz="1100" u="none" strike="noStrike">
                          <a:effectLst/>
                        </a:rPr>
                        <a:t>Model</a:t>
                      </a:r>
                      <a:endParaRPr lang="en-SG" sz="1100" b="0" i="0" u="none" strike="noStrike">
                        <a:solidFill>
                          <a:srgbClr val="333333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u="none" strike="noStrike">
                          <a:effectLst/>
                        </a:rPr>
                        <a:t>Total weight</a:t>
                      </a:r>
                      <a:endParaRPr lang="en-SG" sz="1100" b="0" i="0" u="none" strike="noStrike">
                        <a:solidFill>
                          <a:srgbClr val="333333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u="none" strike="noStrike">
                          <a:effectLst/>
                        </a:rPr>
                        <a:t>Gas weight</a:t>
                      </a:r>
                      <a:endParaRPr lang="en-SG" sz="1100" b="0" i="0" u="none" strike="noStrike">
                        <a:solidFill>
                          <a:srgbClr val="333333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900" u="none" strike="noStrike">
                          <a:effectLst/>
                        </a:rPr>
                        <a:t>Equipment weight</a:t>
                      </a:r>
                      <a:endParaRPr lang="en-SG" sz="900" b="0" i="0" u="none" strike="noStrike">
                        <a:solidFill>
                          <a:srgbClr val="333333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u="none" strike="noStrike">
                          <a:effectLst/>
                        </a:rPr>
                        <a:t>Dimension</a:t>
                      </a:r>
                      <a:endParaRPr lang="en-SG" sz="1100" b="0" i="0" u="none" strike="noStrike">
                        <a:solidFill>
                          <a:srgbClr val="333333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/>
                </a:tc>
              </a:tr>
              <a:tr h="284601"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 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 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 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 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 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kg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kg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kg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000" u="none" strike="noStrike">
                          <a:effectLst/>
                        </a:rPr>
                        <a:t>mm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/>
                </a:tc>
              </a:tr>
              <a:tr h="271049"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1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800" u="none" strike="noStrike">
                          <a:effectLst/>
                        </a:rPr>
                        <a:t>LNG</a:t>
                      </a:r>
                      <a:endParaRPr lang="en-SG" sz="8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20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ZHJ5300GDY</a:t>
                      </a:r>
                      <a:r>
                        <a:rPr lang="zh-CN" altLang="en-US" sz="1000" u="none" strike="noStrike">
                          <a:effectLst/>
                        </a:rPr>
                        <a:t>型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低温液体运输车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29500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8095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21210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11900×2500×3375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</a:tr>
              <a:tr h="298155"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2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800" u="none" strike="noStrike">
                          <a:effectLst/>
                        </a:rPr>
                        <a:t>LNG</a:t>
                      </a:r>
                      <a:endParaRPr lang="en-SG" sz="8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44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ZHJ9400GDYA</a:t>
                      </a:r>
                      <a:r>
                        <a:rPr lang="zh-CN" altLang="en-US" sz="1000" u="none" strike="noStrike">
                          <a:effectLst/>
                        </a:rPr>
                        <a:t>型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低温液体运输半挂车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39500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17800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21700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12950×2500×3950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471" marR="8471" marT="8471" marB="0" anchor="b"/>
                </a:tc>
              </a:tr>
              <a:tr h="271049"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3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800" u="none" strike="noStrike">
                          <a:effectLst/>
                        </a:rPr>
                        <a:t>LNG</a:t>
                      </a:r>
                      <a:endParaRPr lang="en-SG" sz="8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52.63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ZHJ9408GDYA</a:t>
                      </a:r>
                      <a:r>
                        <a:rPr lang="zh-CN" altLang="en-US" sz="1000" u="none" strike="noStrike">
                          <a:effectLst/>
                        </a:rPr>
                        <a:t>型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低温液体运输半挂车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40000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20560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19440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13000×2500×3995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</a:tr>
              <a:tr h="271049"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4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800" u="none" strike="noStrike">
                          <a:effectLst/>
                        </a:rPr>
                        <a:t>LNG</a:t>
                      </a:r>
                      <a:endParaRPr lang="en-SG" sz="8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52.63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ZHJ9380GDYA</a:t>
                      </a:r>
                      <a:r>
                        <a:rPr lang="zh-CN" altLang="en-US" sz="1000" u="none" strike="noStrike">
                          <a:effectLst/>
                        </a:rPr>
                        <a:t>型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低温液体运输半挂车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38000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22250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15750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13000×2500×3950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</a:tr>
              <a:tr h="284601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800" u="none" strike="noStrike">
                          <a:effectLst/>
                        </a:rPr>
                        <a:t>5</a:t>
                      </a:r>
                      <a:endParaRPr lang="en-SG" sz="8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800" u="none" strike="noStrike">
                          <a:effectLst/>
                        </a:rPr>
                        <a:t>LNG</a:t>
                      </a:r>
                      <a:endParaRPr lang="en-SG" sz="8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56.3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ZHJ9408GDYC</a:t>
                      </a:r>
                      <a:r>
                        <a:rPr lang="zh-CN" altLang="en-US" sz="1000" u="none" strike="noStrike">
                          <a:effectLst/>
                        </a:rPr>
                        <a:t>型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低温液体运输半挂车</a:t>
                      </a:r>
                      <a:endParaRPr lang="zh-CN" altLang="en-US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40000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000" u="none" strike="noStrike">
                          <a:effectLst/>
                        </a:rPr>
                        <a:t>23850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71" marR="8471" marT="8471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>
                          <a:effectLst/>
                        </a:rPr>
                        <a:t>16150</a:t>
                      </a:r>
                      <a:endParaRPr lang="en-SG" sz="1000" b="0" i="0" u="none" strike="noStrike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u="none" strike="noStrike" dirty="0">
                          <a:effectLst/>
                        </a:rPr>
                        <a:t>13000×2500×3980</a:t>
                      </a:r>
                      <a:endParaRPr lang="en-SG" sz="1000" b="0" i="0" u="none" strike="noStrike" dirty="0">
                        <a:solidFill>
                          <a:srgbClr val="666666"/>
                        </a:solidFill>
                        <a:effectLst/>
                        <a:latin typeface="&amp;quot"/>
                      </a:endParaRPr>
                    </a:p>
                  </a:txBody>
                  <a:tcPr marL="8471" marR="8471" marT="8471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287553"/>
              </p:ext>
            </p:extLst>
          </p:nvPr>
        </p:nvGraphicFramePr>
        <p:xfrm>
          <a:off x="9448800" y="4575453"/>
          <a:ext cx="2253803" cy="16896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3803"/>
              </a:tblGrid>
              <a:tr h="277407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 dirty="0">
                          <a:effectLst/>
                        </a:rPr>
                        <a:t>Volume：52.6m3</a:t>
                      </a:r>
                      <a:endParaRPr lang="en-SG" sz="11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</a:tr>
              <a:tr h="277407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Presure：0.7MPa</a:t>
                      </a:r>
                      <a:endParaRPr lang="en-SG" sz="1100" b="0" i="0" u="none" strike="noStrike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</a:tr>
              <a:tr h="678385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 dirty="0">
                          <a:effectLst/>
                        </a:rPr>
                        <a:t>Method of </a:t>
                      </a:r>
                      <a:r>
                        <a:rPr lang="en-SG" sz="1100" u="none" strike="noStrike" dirty="0" err="1">
                          <a:effectLst/>
                        </a:rPr>
                        <a:t>colling：Vacuum</a:t>
                      </a:r>
                      <a:r>
                        <a:rPr lang="en-SG" sz="1100" u="none" strike="noStrike" dirty="0">
                          <a:effectLst/>
                        </a:rPr>
                        <a:t> insulation</a:t>
                      </a:r>
                      <a:endParaRPr lang="en-SG" sz="11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</a:tr>
              <a:tr h="456460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 dirty="0" err="1">
                          <a:effectLst/>
                        </a:rPr>
                        <a:t>Standard：GB、ASME</a:t>
                      </a:r>
                      <a:r>
                        <a:rPr lang="en-SG" sz="1100" u="none" strike="noStrike" dirty="0">
                          <a:effectLst/>
                        </a:rPr>
                        <a:t>\EN </a:t>
                      </a:r>
                      <a:endParaRPr lang="en-SG" sz="11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6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395470" y="186065"/>
            <a:ext cx="3614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b="1" dirty="0" smtClean="0"/>
              <a:t>LNG TRANSPORTATION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246467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185" y="553229"/>
            <a:ext cx="2955690" cy="1334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668" y="2070853"/>
            <a:ext cx="3210647" cy="10813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122" y="2128179"/>
            <a:ext cx="1886105" cy="10240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5649" y="3840189"/>
            <a:ext cx="1770295" cy="10996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6919" y="2128179"/>
            <a:ext cx="2054541" cy="1051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1801" y="3960190"/>
            <a:ext cx="1958249" cy="87577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0102" y="3712340"/>
            <a:ext cx="1805506" cy="126843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8952" y="3981345"/>
            <a:ext cx="850708" cy="9159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7949" y="5486934"/>
            <a:ext cx="1375760" cy="7537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5401" y="5338552"/>
            <a:ext cx="1370091" cy="100283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7184" y="5387907"/>
            <a:ext cx="1372918" cy="8527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74875" y="6268545"/>
            <a:ext cx="4229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 smtClean="0">
                <a:solidFill>
                  <a:srgbClr val="FF0000"/>
                </a:solidFill>
              </a:rPr>
              <a:t>More then 50 customer…….</a:t>
            </a:r>
            <a:endParaRPr lang="en-SG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22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C:\Documents and Settings\bshepp\Desktop\rego_bg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723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66497" y="1955208"/>
            <a:ext cx="5832687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METTA LPG PTE LTD</a:t>
            </a:r>
          </a:p>
          <a:p>
            <a:pPr algn="ctr"/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2C JALAN PESAWAT JURONG SINGAPORE 619359</a:t>
            </a:r>
          </a:p>
          <a:p>
            <a:pPr algn="ctr"/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EMAIL: </a:t>
            </a:r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enquiry@mettalpg.com</a:t>
            </a:r>
            <a:endParaRPr lang="en-US" sz="20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1" cap="none" spc="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CONTACT: +65-62654933</a:t>
            </a:r>
          </a:p>
          <a:p>
            <a:pPr algn="ctr"/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185" y="553229"/>
            <a:ext cx="2955690" cy="1334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091293" y="4125032"/>
            <a:ext cx="40141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6000" b="1" dirty="0" smtClean="0">
                <a:solidFill>
                  <a:srgbClr val="C00000"/>
                </a:solidFill>
              </a:rPr>
              <a:t>THANK YOU</a:t>
            </a:r>
            <a:endParaRPr lang="en-SG" sz="6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67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853</Words>
  <Application>Microsoft Office PowerPoint</Application>
  <PresentationFormat>Widescreen</PresentationFormat>
  <Paragraphs>241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&amp;quot</vt:lpstr>
      <vt:lpstr>Copperplate Gothic Bold</vt:lpstr>
      <vt:lpstr>Copperplate Gothic Light</vt:lpstr>
      <vt:lpstr>Franklin Gothic Heavy</vt:lpstr>
      <vt:lpstr>Microsoft YaHei</vt:lpstr>
      <vt:lpstr>宋体</vt:lpstr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pang cn</dc:creator>
  <cp:lastModifiedBy>pang cn</cp:lastModifiedBy>
  <cp:revision>53</cp:revision>
  <dcterms:created xsi:type="dcterms:W3CDTF">2019-04-24T06:56:07Z</dcterms:created>
  <dcterms:modified xsi:type="dcterms:W3CDTF">2019-05-09T02:45:38Z</dcterms:modified>
</cp:coreProperties>
</file>